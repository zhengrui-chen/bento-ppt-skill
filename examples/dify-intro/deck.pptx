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3990975"/>
            <a:ext cx="10362940" cy="1743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925" b="1" i="0" spc="600">
                <a:latin typeface="Noto Sans SC"/>
                <a:solidFill>
                  <a:srgbClr val="B8654A">
                    <a:alpha val="6999"/>
                  </a:srgbClr>
                </a:solidFill>
              </a:rPr>
              <a:t>2026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952500"/>
            <a:ext cx="1036294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PRODUCT INTRO · 2026 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257300"/>
            <a:ext cx="10362940" cy="638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A1815"/>
                </a:solidFill>
                <a:latin typeface="Noto Sans SC"/>
              </a:rPr>
              <a:t>Dify 企业介绍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1895475"/>
            <a:ext cx="10362940" cy="638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A1815"/>
                </a:solidFill>
                <a:latin typeface="Noto Sans SC"/>
              </a:rPr>
              <a:t>下一代 AI 应用开发平台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377" y="2571750"/>
            <a:ext cx="1447763" cy="228600"/>
          </a:xfrm>
          <a:prstGeom prst="roundRect">
            <a:avLst>
              <a:gd name="adj" fmla="val 50000"/>
            </a:avLst>
          </a:prstGeom>
          <a:solidFill>
            <a:srgbClr val="B8654A">
              <a:alpha val="22000"/>
            </a:srgbClr>
          </a:solidFill>
          <a:ln w="6350">
            <a:solidFill>
              <a:srgbClr val="B8654A">
                <a:alpha val="5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2600325"/>
            <a:ext cx="14477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spc="100">
                <a:solidFill>
                  <a:srgbClr val="FFFFFF"/>
                </a:solidFill>
                <a:latin typeface="Noto Sans SC"/>
              </a:rPr>
              <a:t>PRODUCTION-READY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048000"/>
            <a:ext cx="1036294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5C5548"/>
                </a:solidFill>
                <a:latin typeface="Noto Sans SC"/>
              </a:rPr>
              <a:t>把生成式 AI 的不确定，变成产品落地的确定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377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9C9588"/>
                </a:solidFill>
                <a:latin typeface="Noto Sans SC"/>
              </a:rPr>
              <a:t>PRESENTED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Dify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340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9C9588"/>
                </a:solidFill>
                <a:latin typeface="Noto Sans SC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2340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2026 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304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9C9588"/>
                </a:solidFill>
                <a:latin typeface="Noto Sans SC"/>
              </a:rPr>
              <a:t>AUDIENCE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304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企业客户 / 投资人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Noto Sans SC"/>
              </a:rPr>
              <a:t>Dify 企业介绍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IBM Plex Mono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5467213" cy="5505450"/>
          </a:xfrm>
          <a:prstGeom prst="roundRect">
            <a:avLst>
              <a:gd name="adj" fmla="val 3902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全球开发者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4705232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0" b="1" i="0">
                <a:solidFill>
                  <a:srgbClr val="1A1815"/>
                </a:solidFill>
                <a:latin typeface="Noto Sans SC"/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2160" y="2019300"/>
            <a:ext cx="504812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5C5548"/>
                </a:solidFill>
                <a:latin typeface="Noto Sans SC"/>
              </a:rPr>
              <a:t>万+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24574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7A8B5E"/>
                </a:solidFill>
                <a:latin typeface="Noto Sans SC"/>
              </a:rPr>
              <a:t>↑ 180% YoY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Noto Sans SC"/>
              </a:rPr>
              <a:t>覆盖 130+ 个国家与地区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533400"/>
            <a:ext cx="5467213" cy="5505450"/>
          </a:xfrm>
          <a:prstGeom prst="roundRect">
            <a:avLst>
              <a:gd name="adj" fmla="val 3902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085" y="9525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企业客户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085" y="1352550"/>
            <a:ext cx="4705232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0" b="1" i="0">
                <a:solidFill>
                  <a:srgbClr val="1A1815"/>
                </a:solidFill>
                <a:latin typeface="Noto Sans SC"/>
              </a:rPr>
              <a:t>12000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7593" y="2019300"/>
            <a:ext cx="342891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5C5548"/>
                </a:solidFill>
                <a:latin typeface="Noto Sans SC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085" y="24574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7A8B5E"/>
                </a:solidFill>
                <a:latin typeface="Noto Sans SC"/>
              </a:rPr>
              <a:t>↑ Fortune 500 中的 23 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085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085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Noto Sans SC"/>
              </a:rPr>
              <a:t>金融、零售、教育、政务皆有落地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Noto Sans SC"/>
              </a:rPr>
              <a:t>Dify 企业介绍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IBM Plex Mono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6629234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为什么选择 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33500"/>
            <a:ext cx="6629234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Noto Sans SC"/>
              </a:rPr>
              <a:t>把模型能力和业务流程缝起来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752600"/>
            <a:ext cx="6629234" cy="3829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Noto Sans SC"/>
              </a:rPr>
              <a:t>Dify 不是又一个聊天机器人，而是把 LLM 能力变成稳定可交付的业务流程。从 prompt 编排到工具调用、从知识库到日志评测，全链路可观测、可回滚。</a:t>
            </a:r>
          </a:p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Noto Sans SC"/>
              </a:rPr>
              <a:t>工程团队不需要重复造轮子。市场团队不需要等着 IT 排期。运维团队不需要担心 token 失控。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5096" y="533400"/>
            <a:ext cx="3543211" cy="5505450"/>
          </a:xfrm>
          <a:prstGeom prst="roundRect">
            <a:avLst>
              <a:gd name="adj" fmla="val 6021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6087" y="914400"/>
            <a:ext cx="2781230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Noto Sans SC"/>
              </a:rPr>
              <a:t>核心模块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96087" y="1438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6087" y="1495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6" y="1476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276" y="1704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Noto Sans SC"/>
              </a:rPr>
              <a:t>可视化编排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087" y="2200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087" y="2257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276" y="2238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276" y="2466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Noto Sans SC"/>
              </a:rPr>
              <a:t>工具调用框架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96087" y="2962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3019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3276" y="3000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3276" y="3228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Noto Sans SC"/>
              </a:rPr>
              <a:t>RAG 引擎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6087" y="37242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087" y="37814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276" y="376237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LLMOps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3276" y="399097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5548"/>
                </a:solidFill>
                <a:latin typeface="Noto Sans SC"/>
              </a:rPr>
              <a:t>评测与监控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Noto Sans SC"/>
              </a:rPr>
              <a:t>Dify 企业介绍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IBM Plex Mono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3581310" cy="5505450"/>
          </a:xfrm>
          <a:prstGeom prst="roundRect">
            <a:avLst>
              <a:gd name="adj" fmla="val 59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搭建一个 AI 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1A1815"/>
                </a:solidFill>
                <a:latin typeface="Noto Sans S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63" y="1943100"/>
            <a:ext cx="457188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5C5548"/>
                </a:solidFill>
                <a:latin typeface="Noto Sans SC"/>
              </a:rPr>
              <a:t>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Noto Sans SC"/>
              </a:rPr>
              <a:t>从模板到上线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5192" y="533400"/>
            <a:ext cx="3581310" cy="5505450"/>
          </a:xfrm>
          <a:prstGeom prst="roundRect">
            <a:avLst>
              <a:gd name="adj" fmla="val 59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6182" y="9525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支持模型数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6182" y="135255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1A1815"/>
                </a:solidFill>
                <a:latin typeface="Noto Sans SC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3946" y="194310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5C5548"/>
                </a:solidFill>
                <a:latin typeface="Noto Sans SC"/>
              </a:rPr>
              <a:t>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182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6182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Noto Sans SC"/>
              </a:rPr>
              <a:t>OpenAI / Anthropic / 国产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6997" y="533400"/>
            <a:ext cx="3581310" cy="5505450"/>
          </a:xfrm>
          <a:prstGeom prst="roundRect">
            <a:avLst>
              <a:gd name="adj" fmla="val 59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7988" y="9525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可观测性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7988" y="135255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1A1815"/>
                </a:solidFill>
                <a:latin typeface="Noto Sans SC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5752" y="194310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5C5548"/>
                </a:solidFill>
                <a:latin typeface="Noto Sans SC"/>
              </a:rPr>
              <a:t>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7988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7988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Noto Sans SC"/>
              </a:rPr>
              <a:t>全链路日志与评测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Noto Sans SC"/>
              </a:rPr>
              <a:t>Dify 企业介绍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IBM Plex Mono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33626" y="533400"/>
            <a:ext cx="6324441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14617" y="914400"/>
            <a:ext cx="57148" cy="3695700"/>
          </a:xfrm>
          <a:prstGeom prst="roundRect">
            <a:avLst>
              <a:gd name="adj" fmla="val 50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19409" y="1200150"/>
            <a:ext cx="4952876" cy="3409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150" b="0" i="1">
                <a:solidFill>
                  <a:srgbClr val="1A1815"/>
                </a:solidFill>
                <a:latin typeface="Noto Serif SC"/>
              </a:rPr>
              <a:t>AI 应用的瓶颈不是模型，而是工程化。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9409" y="4800600"/>
            <a:ext cx="457188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409" y="4991100"/>
            <a:ext cx="495287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Noto Sans SC"/>
              </a:rPr>
              <a:t>Dify 创始团队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409" y="5295900"/>
            <a:ext cx="4952876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9C9588"/>
                </a:solidFill>
                <a:latin typeface="Noto Sans SC"/>
              </a:rPr>
              <a:t>2024 年技术分享会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53340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377" y="95250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模型延迟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135255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Noto Sans SC"/>
              </a:rPr>
              <a:t>&lt;200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1800225"/>
            <a:ext cx="1447763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5C5548"/>
                </a:solidFill>
                <a:latin typeface="Noto Sans SC"/>
              </a:rPr>
              <a:t>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377" y="22288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3386" y="337185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377" y="37909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成本下降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41910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Noto Sans SC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308" y="461962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5C5548"/>
                </a:solidFill>
                <a:latin typeface="Noto Sans SC"/>
              </a:rPr>
              <a:t>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48563" y="53340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554" y="95250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上线周期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554" y="135255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Noto Sans SC"/>
              </a:rPr>
              <a:t>1/10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554" y="220980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554" y="23431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Noto Sans SC"/>
              </a:rPr>
              <a:t>对比传统开发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563" y="3371850"/>
            <a:ext cx="2209744" cy="2667000"/>
          </a:xfrm>
          <a:prstGeom prst="roundRect">
            <a:avLst>
              <a:gd name="adj" fmla="val 965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554" y="37909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客户留存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554" y="41910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A1815"/>
                </a:solidFill>
                <a:latin typeface="Noto Sans SC"/>
              </a:rPr>
              <a:t>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2485" y="461962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5C5548"/>
                </a:solidFill>
                <a:latin typeface="Noto Sans SC"/>
              </a:rPr>
              <a:t>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29554" y="5048250"/>
            <a:ext cx="571485" cy="28575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Noto Sans SC"/>
              </a:rPr>
              <a:t>Dify 企业介绍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IBM Plex Mono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2286000"/>
          </a:xfrm>
          <a:prstGeom prst="roundRect">
            <a:avLst>
              <a:gd name="adj" fmla="val 9333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1181100"/>
            <a:ext cx="1036294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485900"/>
            <a:ext cx="1036294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150" b="1" i="0">
                <a:solidFill>
                  <a:srgbClr val="1A1815"/>
                </a:solidFill>
                <a:latin typeface="Noto Sans SC"/>
              </a:rPr>
              <a:t>分层架构：从数据层到编排层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33600"/>
            <a:ext cx="1036294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C5548"/>
                </a:solidFill>
                <a:latin typeface="Noto Sans SC"/>
              </a:rPr>
              <a:t>每一层都可独立替换，整体可观测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386" y="3009900"/>
            <a:ext cx="3581310" cy="3028950"/>
          </a:xfrm>
          <a:prstGeom prst="roundRect">
            <a:avLst>
              <a:gd name="adj" fmla="val 7044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3390900"/>
            <a:ext cx="281932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Noto Sans SC"/>
              </a:rP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79" y="3914775"/>
            <a:ext cx="38099" cy="3048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377" y="39147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77" y="39719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565" y="39528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向量库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77" y="443865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77" y="449580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565" y="447675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Noto Sans SC"/>
              </a:rPr>
              <a:t>对象存储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377" y="49625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377" y="50196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565" y="50006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Noto Sans SC"/>
              </a:rPr>
              <a:t>审计日志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5192" y="3009900"/>
            <a:ext cx="3581310" cy="3028950"/>
          </a:xfrm>
          <a:prstGeom prst="roundRect">
            <a:avLst>
              <a:gd name="adj" fmla="val 7044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6182" y="3390900"/>
            <a:ext cx="281932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Noto Sans SC"/>
              </a:rPr>
              <a:t>能力层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1885" y="3914775"/>
            <a:ext cx="38099" cy="3048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182" y="39147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6182" y="39719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371" y="39528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模型路由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6182" y="443865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6182" y="449580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371" y="447675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Noto Sans SC"/>
              </a:rPr>
              <a:t>工具调用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86182" y="49625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6182" y="50196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371" y="50006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Noto Sans SC"/>
              </a:rPr>
              <a:t>知识检索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6997" y="3009900"/>
            <a:ext cx="3581310" cy="3028950"/>
          </a:xfrm>
          <a:prstGeom prst="roundRect">
            <a:avLst>
              <a:gd name="adj" fmla="val 7044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7988" y="3390900"/>
            <a:ext cx="281932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Noto Sans SC"/>
              </a:rPr>
              <a:t>编排层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3691" y="3914775"/>
            <a:ext cx="38099" cy="3048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57988" y="39147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7988" y="39719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6" y="39528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57988" y="443865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7988" y="449580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176" y="447675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Noto Sans SC"/>
              </a:rPr>
              <a:t>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7988" y="49625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7988" y="50196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Noto Sans SC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176" y="50006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C5548"/>
                </a:solidFill>
                <a:latin typeface="Noto Sans SC"/>
              </a:rPr>
              <a:t>Chat 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Noto Sans SC"/>
              </a:rPr>
              <a:t>Dify 企业介绍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IBM Plex Mono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2667000"/>
          </a:xfrm>
          <a:prstGeom prst="roundRect">
            <a:avLst>
              <a:gd name="adj" fmla="val 7999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14400"/>
            <a:ext cx="6629234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模型调用量月环比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8112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1A1815"/>
                </a:solidFill>
                <a:latin typeface="Noto Sans SC"/>
              </a:rPr>
              <a:t>GPT-4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4441" y="136207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Noto Sans SC"/>
              </a:rPr>
              <a:t>42 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1866900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1A1815"/>
                </a:solidFill>
                <a:latin typeface="Noto Sans SC"/>
              </a:rPr>
              <a:t>Claude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8339" y="1781175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38339" y="1781175"/>
            <a:ext cx="2781230" cy="352425"/>
          </a:xfrm>
          <a:prstGeom prst="roundRect">
            <a:avLst>
              <a:gd name="adj" fmla="val 1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3866" y="1847850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Noto Sans SC"/>
              </a:rPr>
              <a:t>31 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235267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1A1815"/>
                </a:solidFill>
                <a:latin typeface="Noto Sans SC"/>
              </a:rPr>
              <a:t>Gemini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8339" y="226695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38339" y="2266950"/>
            <a:ext cx="1609684" cy="352425"/>
          </a:xfrm>
          <a:prstGeom prst="roundRect">
            <a:avLst>
              <a:gd name="adj" fmla="val 15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2320" y="233362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815"/>
                </a:solidFill>
                <a:latin typeface="Noto Sans SC"/>
              </a:rPr>
              <a:t>18 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096" y="533400"/>
            <a:ext cx="3543211" cy="2667000"/>
          </a:xfrm>
          <a:prstGeom prst="roundRect">
            <a:avLst>
              <a:gd name="adj" fmla="val 7999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95250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运行指标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087" y="1228725"/>
            <a:ext cx="2781230" cy="542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A1815"/>
                </a:solidFill>
                <a:latin typeface="Noto Sans SC"/>
              </a:rPr>
              <a:t>187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5216" y="1533525"/>
            <a:ext cx="371465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D4956B"/>
                </a:solidFill>
                <a:latin typeface="Noto Sans SC"/>
              </a:rPr>
              <a:t>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1910" y="1504950"/>
            <a:ext cx="1600159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5C5548"/>
                </a:solidFill>
                <a:latin typeface="Noto Sans SC"/>
              </a:rPr>
              <a:t>API 平均响应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087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9C9588"/>
                </a:solidFill>
                <a:latin typeface="Noto Sans SC"/>
              </a:rPr>
              <a:t>99 分位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087" y="189547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420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6702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9C9588"/>
                </a:solidFill>
                <a:latin typeface="Noto Sans SC"/>
              </a:rPr>
              <a:t>错误率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6702" y="189547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815"/>
                </a:solidFill>
                <a:latin typeface="Noto Sans SC"/>
              </a:rPr>
              <a:t>0.03%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6087" y="2247900"/>
            <a:ext cx="278123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96087" y="2247900"/>
            <a:ext cx="2752656" cy="57150"/>
          </a:xfrm>
          <a:prstGeom prst="roundRect">
            <a:avLst>
              <a:gd name="adj" fmla="val 50000"/>
            </a:avLst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087" y="238125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5C5548"/>
                </a:solidFill>
                <a:latin typeface="Noto Sans SC"/>
              </a:rPr>
              <a:t>SLA 99% 达标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386" y="3390900"/>
            <a:ext cx="3543211" cy="2647950"/>
          </a:xfrm>
          <a:prstGeom prst="roundRect">
            <a:avLst>
              <a:gd name="adj" fmla="val 80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377" y="377190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界面预览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377" y="4095750"/>
            <a:ext cx="2781230" cy="1485900"/>
          </a:xfrm>
          <a:prstGeom prst="roundRect">
            <a:avLst>
              <a:gd name="adj" fmla="val 5000"/>
            </a:avLst>
          </a:prstGeom>
          <a:solidFill>
            <a:srgbClr val="B8654A">
              <a:alpha val="10000"/>
            </a:srgbClr>
          </a:solidFill>
          <a:ln w="12700">
            <a:solidFill>
              <a:srgbClr val="B8654A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377" y="4724400"/>
            <a:ext cx="278123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C5548"/>
                </a:solidFill>
                <a:latin typeface="Noto Sans SC"/>
              </a:rPr>
              <a:t>Workflow 编排画布概念图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5192" y="3390900"/>
            <a:ext cx="7353116" cy="2647950"/>
          </a:xfrm>
          <a:prstGeom prst="roundRect">
            <a:avLst>
              <a:gd name="adj" fmla="val 8057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86182" y="3848100"/>
            <a:ext cx="6591135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A1815"/>
                </a:solidFill>
                <a:latin typeface="Noto Sans SC"/>
              </a:rPr>
              <a:t>落地案例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182" y="4267200"/>
            <a:ext cx="6591135" cy="1314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Noto Sans SC"/>
              </a:rPr>
              <a:t>某头部券商：用 Dify 把 17 个内部系统的接口能力封装成 Agent 工具，把客户经理日均处理工单数从 23 提升到 78。</a:t>
            </a:r>
          </a:p>
          <a:p>
            <a:pPr>
              <a:spcAft>
                <a:spcPts val="800"/>
              </a:spcAft>
            </a:pPr>
            <a:r>
              <a:rPr sz="1275">
                <a:solidFill>
                  <a:srgbClr val="5C5548"/>
                </a:solidFill>
                <a:latin typeface="Noto Sans SC"/>
              </a:rPr>
              <a:t>某省级政务平台：基于 Dify 知识库构建公文助手，问答准确率从 62% 提升到 91%。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Noto Sans SC"/>
              </a:rPr>
              <a:t>Dify 企业介绍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IBM Plex Mono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ln>
            <a:noFill/>
          </a:ln>
          <a:gradFill>
            <a:gsLst>
              <a:gs pos="0">
                <a:srgbClr val="F5F0E8"/>
              </a:gs>
              <a:gs pos="100000">
                <a:srgbClr val="EDE6D8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3875"/>
            </a:avLst>
          </a:prstGeom>
          <a:solidFill>
            <a:srgbClr val="FFFFFF">
              <a:alpha val="82000"/>
            </a:srgbClr>
          </a:solidFill>
          <a:ln w="12700">
            <a:solidFill>
              <a:srgbClr val="1A1815">
                <a:alpha val="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300">
                <a:solidFill>
                  <a:srgbClr val="D4956B"/>
                </a:solidFill>
                <a:latin typeface="Noto Sans SC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57300"/>
            <a:ext cx="10362940" cy="638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A1815"/>
                </a:solidFill>
                <a:latin typeface="Noto Sans SC"/>
              </a:rPr>
              <a:t>让我们一起，把 AI 装进每一个业务流程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066925"/>
            <a:ext cx="1036294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5C5548"/>
                </a:solidFill>
                <a:latin typeface="Noto Sans SC"/>
              </a:rPr>
              <a:t>联系 sales@dify.ai 安排技术演示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B86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410200"/>
            <a:ext cx="10362940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>
                <a:solidFill>
                  <a:srgbClr val="5C5548"/>
                </a:solidFill>
                <a:latin typeface="Noto Sans SC"/>
              </a:rPr>
              <a:t>Dify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>
                <a:solidFill>
                  <a:srgbClr val="9C9588"/>
                </a:solidFill>
                <a:latin typeface="Noto Sans SC"/>
              </a:rPr>
              <a:t>Dify 企业介绍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0" i="0">
                <a:solidFill>
                  <a:srgbClr val="9C9588"/>
                </a:solidFill>
                <a:latin typeface="IBM Plex Mono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