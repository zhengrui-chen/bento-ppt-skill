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11124921" cy="5505450"/>
          </a:xfrm>
          <a:prstGeom prst="roundRect">
            <a:avLst>
              <a:gd name="adj" fmla="val 484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3990975"/>
            <a:ext cx="10362940" cy="1743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925" b="1" i="0" spc="600">
                <a:latin typeface="PingFang SC"/>
                <a:solidFill>
                  <a:srgbClr val="7c5cff">
                    <a:alpha val="6999"/>
                  </a:srgbClr>
                </a:solidFill>
              </a:rPr>
              <a:t>2026 FUTURE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952500"/>
            <a:ext cx="1036294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PRODUCT INTRO · 2026 Q2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77" y="1276350"/>
            <a:ext cx="103629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500" b="1" i="0">
                <a:solidFill>
                  <a:srgbClr val="FFFFFF"/>
                </a:solidFill>
                <a:latin typeface="PingFang SC"/>
              </a:rPr>
              <a:t>Dify 企业介绍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377" y="1962150"/>
            <a:ext cx="103629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500" b="1" i="0">
                <a:solidFill>
                  <a:srgbClr val="FFFFFF"/>
                </a:solidFill>
                <a:latin typeface="PingFang SC"/>
              </a:rPr>
              <a:t>下一代 AI 应用开发平台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377" y="2686050"/>
            <a:ext cx="1238219" cy="209550"/>
          </a:xfrm>
          <a:prstGeom prst="roundRect">
            <a:avLst>
              <a:gd name="adj" fmla="val 50000"/>
            </a:avLst>
          </a:prstGeom>
          <a:solidFill>
            <a:srgbClr val="7C5CFF">
              <a:alpha val="22000"/>
            </a:srgbClr>
          </a:solidFill>
          <a:ln w="6350">
            <a:solidFill>
              <a:srgbClr val="7C5CFF">
                <a:alpha val="5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377" y="2714625"/>
            <a:ext cx="1238219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25" b="1" i="0" spc="50">
                <a:solidFill>
                  <a:srgbClr val="FFFFFF"/>
                </a:solidFill>
                <a:latin typeface="PingFang SC"/>
              </a:rPr>
              <a:t>PRODUCTION-READY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3162300"/>
            <a:ext cx="1036294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0" i="0">
                <a:solidFill>
                  <a:srgbClr val="BCC4D8"/>
                </a:solidFill>
                <a:latin typeface="PingFang SC"/>
              </a:rPr>
              <a:t>把生成式 AI 的不确定，变成产品落地的确定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377" y="4895850"/>
            <a:ext cx="1142971" cy="38100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377" y="5181600"/>
            <a:ext cx="3447963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6B7392"/>
                </a:solidFill>
                <a:latin typeface="PingFang SC"/>
              </a:rPr>
              <a:t>PRESENTED BY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377" y="5391150"/>
            <a:ext cx="34479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Dify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2340" y="5181600"/>
            <a:ext cx="3447963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6B7392"/>
                </a:solidFill>
                <a:latin typeface="PingFang SC"/>
              </a:rPr>
              <a:t>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2340" y="5391150"/>
            <a:ext cx="34479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2026 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0304" y="5181600"/>
            <a:ext cx="3447963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6B7392"/>
                </a:solidFill>
                <a:latin typeface="PingFang SC"/>
              </a:rPr>
              <a:t>AUDIENCE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0304" y="5391150"/>
            <a:ext cx="34479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企业客户 / 投资人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5467213" cy="5505450"/>
          </a:xfrm>
          <a:prstGeom prst="roundRect">
            <a:avLst>
              <a:gd name="adj" fmla="val 4878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470523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全球开发者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371600"/>
            <a:ext cx="4705232" cy="1257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0" b="1" i="0">
                <a:solidFill>
                  <a:srgbClr val="FFFFFF"/>
                </a:solidFill>
                <a:latin typeface="PingFang SC"/>
              </a:rPr>
              <a:t>180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05032" y="2114550"/>
            <a:ext cx="533386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BCC4D8"/>
                </a:solidFill>
                <a:latin typeface="PingFang SC"/>
              </a:rPr>
              <a:t>万+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377" y="2571750"/>
            <a:ext cx="470523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22D97F"/>
                </a:solidFill>
                <a:latin typeface="PingFang SC"/>
              </a:rPr>
              <a:t>↑ 180% YoY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77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377" y="5181600"/>
            <a:ext cx="470523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覆盖 130+ 个国家与地区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1095" y="533400"/>
            <a:ext cx="5467213" cy="5505450"/>
          </a:xfrm>
          <a:prstGeom prst="roundRect">
            <a:avLst>
              <a:gd name="adj" fmla="val 4878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72085" y="952500"/>
            <a:ext cx="470523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企业客户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2085" y="1371600"/>
            <a:ext cx="4705232" cy="1257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0" b="1" i="0">
                <a:solidFill>
                  <a:srgbClr val="FFFFFF"/>
                </a:solidFill>
                <a:latin typeface="PingFang SC"/>
              </a:rPr>
              <a:t>12000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5712" y="2114550"/>
            <a:ext cx="36194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BCC4D8"/>
                </a:solidFill>
                <a:latin typeface="PingFang SC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2085" y="2571750"/>
            <a:ext cx="470523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22D97F"/>
                </a:solidFill>
                <a:latin typeface="PingFang SC"/>
              </a:rPr>
              <a:t>↑ Fortune 500 中的 23 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72085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72085" y="5181600"/>
            <a:ext cx="470523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金融、零售、教育、政务皆有落地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7391215" cy="5505450"/>
          </a:xfrm>
          <a:prstGeom prst="roundRect">
            <a:avLst>
              <a:gd name="adj" fmla="val 484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6629234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为什么选择 Dify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352550"/>
            <a:ext cx="6629234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把模型能力和业务流程缝起来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77" y="1790700"/>
            <a:ext cx="6629234" cy="3790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BCC4D8"/>
                </a:solidFill>
                <a:latin typeface="PingFang SC"/>
              </a:rPr>
              <a:t>Dify 不是又一个聊天机器人，而是把 LLM 能力变成稳定可交付的业务流程。从 prompt 编排到工具调用、从知识库到日志评测，全链路可观测、可回滚。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BCC4D8"/>
                </a:solidFill>
                <a:latin typeface="PingFang SC"/>
              </a:rPr>
              <a:t>工程团队不需要重复造轮子。市场团队不需要等着 IT 排期。运维团队不需要担心 token 失控。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5096" y="533400"/>
            <a:ext cx="3543211" cy="5505450"/>
          </a:xfrm>
          <a:prstGeom prst="roundRect">
            <a:avLst>
              <a:gd name="adj" fmla="val 7526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96087" y="914400"/>
            <a:ext cx="2781230" cy="3524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核心模块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96087" y="145732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96087" y="151447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3276" y="1495425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53276" y="1724025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可视化编排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96087" y="221932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96087" y="227647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53276" y="2257425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3276" y="2486025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工具调用框架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96087" y="298132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96087" y="303847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3276" y="3019425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Knowledge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53276" y="3248025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RAG 引擎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96087" y="374332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96087" y="380047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53276" y="3781425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LLMOps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53276" y="4010025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评测与监控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3581310" cy="5505450"/>
          </a:xfrm>
          <a:prstGeom prst="roundRect">
            <a:avLst>
              <a:gd name="adj" fmla="val 7446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2819329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搭建一个 AI 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371600"/>
            <a:ext cx="2819329" cy="10001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600" b="1" i="0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7763" y="1962150"/>
            <a:ext cx="457188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CC4D8"/>
                </a:solidFill>
                <a:latin typeface="PingFang SC"/>
              </a:rPr>
              <a:t>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377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377" y="5181600"/>
            <a:ext cx="2819329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从模板到上线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5192" y="533400"/>
            <a:ext cx="3581310" cy="5505450"/>
          </a:xfrm>
          <a:prstGeom prst="roundRect">
            <a:avLst>
              <a:gd name="adj" fmla="val 7446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6182" y="952500"/>
            <a:ext cx="2819329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支持模型数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6182" y="1371600"/>
            <a:ext cx="2819329" cy="10001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600" b="1" i="0">
                <a:solidFill>
                  <a:srgbClr val="FFFFFF"/>
                </a:solidFill>
                <a:latin typeface="PingFang SC"/>
              </a:rPr>
              <a:t>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33946" y="1962150"/>
            <a:ext cx="323841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CC4D8"/>
                </a:solidFill>
                <a:latin typeface="PingFang SC"/>
              </a:rPr>
              <a:t>+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6182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6182" y="5181600"/>
            <a:ext cx="2819329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OpenAI / Anthropic / 国产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6997" y="533400"/>
            <a:ext cx="3581310" cy="5505450"/>
          </a:xfrm>
          <a:prstGeom prst="roundRect">
            <a:avLst>
              <a:gd name="adj" fmla="val 7446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7988" y="952500"/>
            <a:ext cx="2819329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可观测性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7988" y="1371600"/>
            <a:ext cx="2819329" cy="10001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600" b="1" i="0">
                <a:solidFill>
                  <a:srgbClr val="FFFFFF"/>
                </a:solidFill>
                <a:latin typeface="PingFang SC"/>
              </a:rPr>
              <a:t>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05752" y="1962150"/>
            <a:ext cx="323841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CC4D8"/>
                </a:solidFill>
                <a:latin typeface="PingFang SC"/>
              </a:rPr>
              <a:t>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7988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7988" y="5181600"/>
            <a:ext cx="2819329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全链路日志与评测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933626" y="533400"/>
            <a:ext cx="6324441" cy="5505450"/>
          </a:xfrm>
          <a:prstGeom prst="roundRect">
            <a:avLst>
              <a:gd name="adj" fmla="val 484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314617" y="914400"/>
            <a:ext cx="57148" cy="369570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19409" y="1295400"/>
            <a:ext cx="4952876" cy="3314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300" b="0" i="1">
                <a:solidFill>
                  <a:srgbClr val="FFFFFF"/>
                </a:solidFill>
                <a:latin typeface="PingFang SC"/>
              </a:rPr>
              <a:t>AI 应用的瓶颈不是模型，而是工程化。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3619409" y="4800600"/>
            <a:ext cx="457188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9409" y="4991100"/>
            <a:ext cx="4952876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PingFang SC"/>
              </a:rPr>
              <a:t>Dify 创始团队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9409" y="5295900"/>
            <a:ext cx="4952876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392"/>
                </a:solidFill>
                <a:latin typeface="PingFang SC"/>
              </a:rPr>
              <a:t>2024 年技术分享会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386" y="533400"/>
            <a:ext cx="2209744" cy="2667000"/>
          </a:xfrm>
          <a:prstGeom prst="roundRect">
            <a:avLst>
              <a:gd name="adj" fmla="val 12068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377" y="952500"/>
            <a:ext cx="14477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模型延迟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377" y="1371600"/>
            <a:ext cx="1447763" cy="723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PingFang SC"/>
              </a:rPr>
              <a:t>&lt;200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377" y="2019300"/>
            <a:ext cx="1447763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1" i="0">
                <a:solidFill>
                  <a:srgbClr val="BCC4D8"/>
                </a:solidFill>
                <a:latin typeface="PingFang SC"/>
              </a:rPr>
              <a:t>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377" y="2409825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33386" y="3371850"/>
            <a:ext cx="2209744" cy="2667000"/>
          </a:xfrm>
          <a:prstGeom prst="roundRect">
            <a:avLst>
              <a:gd name="adj" fmla="val 12068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377" y="3790950"/>
            <a:ext cx="14477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成本下降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377" y="4210050"/>
            <a:ext cx="1447763" cy="723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PingFang SC"/>
              </a:rPr>
              <a:t>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7308" y="4638675"/>
            <a:ext cx="285742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1" i="0">
                <a:solidFill>
                  <a:srgbClr val="BCC4D8"/>
                </a:solidFill>
                <a:latin typeface="PingFang SC"/>
              </a:rPr>
              <a:t>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377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448563" y="533400"/>
            <a:ext cx="2209744" cy="2667000"/>
          </a:xfrm>
          <a:prstGeom prst="roundRect">
            <a:avLst>
              <a:gd name="adj" fmla="val 12068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9554" y="952500"/>
            <a:ext cx="14477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上线周期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9554" y="1371600"/>
            <a:ext cx="1447763" cy="723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PingFang SC"/>
              </a:rPr>
              <a:t>1/10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29554" y="220980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29554" y="2343150"/>
            <a:ext cx="1447763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对比传统开发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48563" y="3371850"/>
            <a:ext cx="2209744" cy="2667000"/>
          </a:xfrm>
          <a:prstGeom prst="roundRect">
            <a:avLst>
              <a:gd name="adj" fmla="val 12068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29554" y="3790950"/>
            <a:ext cx="14477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客户留存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554" y="4210050"/>
            <a:ext cx="1447763" cy="723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PingFang SC"/>
              </a:rPr>
              <a:t>94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72485" y="4638675"/>
            <a:ext cx="285742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1" i="0">
                <a:solidFill>
                  <a:srgbClr val="BCC4D8"/>
                </a:solidFill>
                <a:latin typeface="PingFang SC"/>
              </a:rPr>
              <a:t>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29554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11124921" cy="2286000"/>
          </a:xfrm>
          <a:prstGeom prst="roundRect">
            <a:avLst>
              <a:gd name="adj" fmla="val 11666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1036294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276350"/>
            <a:ext cx="10362940" cy="495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PingFang SC"/>
              </a:rPr>
              <a:t>分层架构：从数据层到编排层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77" y="1943100"/>
            <a:ext cx="1036294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0" i="0">
                <a:solidFill>
                  <a:srgbClr val="BCC4D8"/>
                </a:solidFill>
                <a:latin typeface="PingFang SC"/>
              </a:rPr>
              <a:t>每一层都可独立替换，整体可观测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386" y="3009900"/>
            <a:ext cx="3581310" cy="3028950"/>
          </a:xfrm>
          <a:prstGeom prst="roundRect">
            <a:avLst>
              <a:gd name="adj" fmla="val 8805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377" y="3390900"/>
            <a:ext cx="2819329" cy="3524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数据层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079" y="3933825"/>
            <a:ext cx="38099" cy="4857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377" y="393382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377" y="399097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565" y="397192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向量库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377" y="44577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377" y="45148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565" y="449580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对象存储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377" y="498157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377" y="503872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565" y="501967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审计日志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5192" y="3009900"/>
            <a:ext cx="3581310" cy="3028950"/>
          </a:xfrm>
          <a:prstGeom prst="roundRect">
            <a:avLst>
              <a:gd name="adj" fmla="val 8805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86182" y="3390900"/>
            <a:ext cx="2819329" cy="3524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能力层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1885" y="3933825"/>
            <a:ext cx="38099" cy="4857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686182" y="393382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86182" y="399097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43371" y="397192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模型路由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86182" y="44577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6182" y="45148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3371" y="449580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工具调用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86182" y="498157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6182" y="503872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43371" y="501967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知识检索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76997" y="3009900"/>
            <a:ext cx="3581310" cy="3028950"/>
          </a:xfrm>
          <a:prstGeom prst="roundRect">
            <a:avLst>
              <a:gd name="adj" fmla="val 8805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57988" y="3390900"/>
            <a:ext cx="2819329" cy="3524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编排层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43691" y="3933825"/>
            <a:ext cx="38099" cy="4857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457988" y="393382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57988" y="399097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176" y="397192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Workflow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57988" y="44577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57988" y="45148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15176" y="449580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Agent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57988" y="498157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57988" y="503872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15176" y="501967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Chat 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7391215" cy="2667000"/>
          </a:xfrm>
          <a:prstGeom prst="roundRect">
            <a:avLst>
              <a:gd name="adj" fmla="val 10000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14400"/>
            <a:ext cx="6629234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模型调用量月环比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381125"/>
            <a:ext cx="152396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  <a:latin typeface="PingFang SC"/>
              </a:rPr>
              <a:t>GPT-4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38339" y="1295400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38339" y="1295400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24441" y="1362075"/>
            <a:ext cx="1142971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PingFang SC"/>
              </a:rPr>
              <a:t>42 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1866900"/>
            <a:ext cx="152396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  <a:latin typeface="PingFang SC"/>
              </a:rPr>
              <a:t>Claude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38339" y="1781175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38339" y="1781175"/>
            <a:ext cx="2781230" cy="352425"/>
          </a:xfrm>
          <a:prstGeom prst="roundRect">
            <a:avLst>
              <a:gd name="adj" fmla="val 1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3866" y="1847850"/>
            <a:ext cx="1142971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PingFang SC"/>
              </a:rPr>
              <a:t>31 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377" y="2352675"/>
            <a:ext cx="152396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  <a:latin typeface="PingFang SC"/>
              </a:rPr>
              <a:t>Gemini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38339" y="2266950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438339" y="2266950"/>
            <a:ext cx="1609684" cy="352425"/>
          </a:xfrm>
          <a:prstGeom prst="roundRect">
            <a:avLst>
              <a:gd name="adj" fmla="val 1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62320" y="2333625"/>
            <a:ext cx="1142971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PingFang SC"/>
              </a:rPr>
              <a:t>18 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096" y="533400"/>
            <a:ext cx="3543211" cy="2667000"/>
          </a:xfrm>
          <a:prstGeom prst="roundRect">
            <a:avLst>
              <a:gd name="adj" fmla="val 10000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96087" y="952500"/>
            <a:ext cx="278123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运行指标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6087" y="1266825"/>
            <a:ext cx="2781230" cy="542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PingFang SC"/>
              </a:rPr>
              <a:t>187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15216" y="1571625"/>
            <a:ext cx="371465" cy="180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0D4FF"/>
                </a:solidFill>
                <a:latin typeface="PingFang SC"/>
              </a:rPr>
              <a:t>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1910" y="1533525"/>
            <a:ext cx="1600159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BCC4D8"/>
                </a:solidFill>
                <a:latin typeface="PingFang SC"/>
              </a:rPr>
              <a:t>API 平均响应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96087" y="1762125"/>
            <a:ext cx="1390615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100">
                <a:solidFill>
                  <a:srgbClr val="6B7392"/>
                </a:solidFill>
                <a:latin typeface="PingFang SC"/>
              </a:rPr>
              <a:t>99 分位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6087" y="1876425"/>
            <a:ext cx="1390615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420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86702" y="1762125"/>
            <a:ext cx="1390615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100">
                <a:solidFill>
                  <a:srgbClr val="6B7392"/>
                </a:solidFill>
                <a:latin typeface="PingFang SC"/>
              </a:rPr>
              <a:t>错误率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86702" y="1876425"/>
            <a:ext cx="1390615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0.03%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96087" y="2247900"/>
            <a:ext cx="2781230" cy="5715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96087" y="2247900"/>
            <a:ext cx="2752656" cy="5715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96087" y="2381250"/>
            <a:ext cx="278123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SLA 99% 达标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3386" y="3390900"/>
            <a:ext cx="3543211" cy="2647950"/>
          </a:xfrm>
          <a:prstGeom prst="roundRect">
            <a:avLst>
              <a:gd name="adj" fmla="val 1007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377" y="3771900"/>
            <a:ext cx="278123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界面预览</a:t>
            </a:r>
          </a:p>
        </p:txBody>
      </p:sp>
      <p:pic>
        <p:nvPicPr>
          <p:cNvPr id="31" name="Picture 30" descr="b0f2e749292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77" y="4114800"/>
            <a:ext cx="2781230" cy="146685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05192" y="3390900"/>
            <a:ext cx="7353116" cy="2647950"/>
          </a:xfrm>
          <a:prstGeom prst="roundRect">
            <a:avLst>
              <a:gd name="adj" fmla="val 1007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6182" y="3848100"/>
            <a:ext cx="6591135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落地案例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6182" y="4286250"/>
            <a:ext cx="6591135" cy="1295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BCC4D8"/>
                </a:solidFill>
                <a:latin typeface="PingFang SC"/>
              </a:rPr>
              <a:t>某头部券商：用 Dify 把 17 个内部系统的接口能力封装成 Agent 工具，把客户经理日均处理工单数从 23 提升到 78。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BCC4D8"/>
                </a:solidFill>
                <a:latin typeface="PingFang SC"/>
              </a:rPr>
              <a:t>某省级政务平台：基于 Dify 知识库构建公文助手，问答准确率从 62% 提升到 91%。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11124921" cy="5505450"/>
          </a:xfrm>
          <a:prstGeom prst="roundRect">
            <a:avLst>
              <a:gd name="adj" fmla="val 484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1036294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276350"/>
            <a:ext cx="103629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500" b="1" i="0">
                <a:solidFill>
                  <a:srgbClr val="FFFFFF"/>
                </a:solidFill>
                <a:latin typeface="PingFang SC"/>
              </a:rPr>
              <a:t>让我们一起，把 AI 装进每一个业务流程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77" y="2133600"/>
            <a:ext cx="1036294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0" i="0">
                <a:solidFill>
                  <a:srgbClr val="BCC4D8"/>
                </a:solidFill>
                <a:latin typeface="PingFang SC"/>
              </a:rPr>
              <a:t>联系 sales@dify.ai 安排技术演示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377" y="4895850"/>
            <a:ext cx="1142971" cy="38100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377" y="5410200"/>
            <a:ext cx="1036294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BCC4D8"/>
                </a:solidFill>
                <a:latin typeface="PingFang SC"/>
              </a:rPr>
              <a:t>Dify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