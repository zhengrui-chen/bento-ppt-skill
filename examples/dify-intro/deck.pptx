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3990975"/>
            <a:ext cx="10362940" cy="1743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925" b="1" i="0" spc="600">
                <a:latin typeface="PingFang SC"/>
                <a:solidFill>
                  <a:srgbClr val="7c5cff">
                    <a:alpha val="6999"/>
                  </a:srgbClr>
                </a:solidFill>
              </a:rPr>
              <a:t>2026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PRODUCT INTRO · 2026 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Dify 企业介绍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19621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下一代 AI 应用开发平台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377" y="2686050"/>
            <a:ext cx="1447763" cy="209550"/>
          </a:xfrm>
          <a:prstGeom prst="roundRect">
            <a:avLst>
              <a:gd name="adj" fmla="val 50000"/>
            </a:avLst>
          </a:prstGeom>
          <a:solidFill>
            <a:srgbClr val="7C5CFF">
              <a:alpha val="22000"/>
            </a:srgbClr>
          </a:solidFill>
          <a:ln w="6350">
            <a:solidFill>
              <a:srgbClr val="7C5CFF">
                <a:alpha val="5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2714625"/>
            <a:ext cx="14477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spc="100">
                <a:solidFill>
                  <a:srgbClr val="FFFFFF"/>
                </a:solidFill>
                <a:latin typeface="PingFang SC"/>
              </a:rPr>
              <a:t>PRODUCTION-READY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1623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把生成式 AI 的不确定，变成产品落地的确定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377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PRESENTED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Dify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340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2340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2026 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304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AUDIENCE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304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企业客户 / 投资人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全球开发者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4705232" cy="1257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05032" y="2114550"/>
            <a:ext cx="533386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万+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180% YoY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覆盖 130+ 个国家与地区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085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企业客户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085" y="1371600"/>
            <a:ext cx="4705232" cy="1257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5712" y="2114550"/>
            <a:ext cx="361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085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Fortune 500 中的 23 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085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085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金融、零售、教育、政务皆有落地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为什么选择 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6629234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把模型能力和业务流程缝起来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790700"/>
            <a:ext cx="6629234" cy="3790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Dify 不是又一个聊天机器人，而是把 LLM 能力变成稳定可交付的业务流程。从 prompt 编排到工具调用、从知识库到日志评测，全链路可观测、可回滚。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工程团队不需要重复造轮子。市场团队不需要等着 IT 排期。运维团队不需要担心 token 失控。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5096" y="533400"/>
            <a:ext cx="3543211" cy="5505450"/>
          </a:xfrm>
          <a:prstGeom prst="roundRect">
            <a:avLst>
              <a:gd name="adj" fmla="val 752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6087" y="914400"/>
            <a:ext cx="2781230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核心模块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96087" y="1457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6087" y="1514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6" y="1495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276" y="1724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可视化编排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087" y="2219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087" y="2276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276" y="2257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276" y="2486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工具调用框架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96087" y="2981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3038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3276" y="3019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3276" y="3248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RAG 引擎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6087" y="37433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087" y="38004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276" y="3781425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LLMOps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3276" y="4010025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评测与监控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搭建一个 AI 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63" y="1962150"/>
            <a:ext cx="457188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从模板到上线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5192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6182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支持模型数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6182" y="137160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3946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182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6182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OpenAI / Anthropic / 国产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6997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7988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可观测性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7988" y="1371600"/>
            <a:ext cx="2819329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5752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7988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7988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全链路日志与评测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33626" y="533400"/>
            <a:ext cx="632444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14617" y="914400"/>
            <a:ext cx="57148" cy="369570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19409" y="1200150"/>
            <a:ext cx="4952876" cy="3409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0" i="1">
                <a:solidFill>
                  <a:srgbClr val="FFFFFF"/>
                </a:solidFill>
                <a:latin typeface="PingFang SC"/>
              </a:rPr>
              <a:t>AI 应用的瓶颈不是模型，而是工程化。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9409" y="4800600"/>
            <a:ext cx="457188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409" y="4991100"/>
            <a:ext cx="495287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Dify 创始团队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409" y="5295900"/>
            <a:ext cx="4952876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392"/>
                </a:solidFill>
                <a:latin typeface="PingFang SC"/>
              </a:rPr>
              <a:t>2024 年技术分享会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377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模型延迟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13716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&lt;200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2019300"/>
            <a:ext cx="1447763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377" y="2409825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3386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377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成本下降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421005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308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48563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554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上线周期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554" y="13716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1/10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554" y="220980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554" y="23431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对比传统开发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563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554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客户留存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554" y="421005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2485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29554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2286000"/>
          </a:xfrm>
          <a:prstGeom prst="roundRect">
            <a:avLst>
              <a:gd name="adj" fmla="val 11666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1152525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476375"/>
            <a:ext cx="10362940" cy="495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PingFang SC"/>
              </a:rPr>
              <a:t>分层架构：从数据层到编排层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43125"/>
            <a:ext cx="1036294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BCC4D8"/>
                </a:solidFill>
                <a:latin typeface="PingFang SC"/>
              </a:rPr>
              <a:t>每一层都可独立替换，整体可观测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386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79" y="3933825"/>
            <a:ext cx="38099" cy="3048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377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77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565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向量库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77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77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565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对象存储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377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377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565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审计日志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5192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6182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能力层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1885" y="3933825"/>
            <a:ext cx="38099" cy="3048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182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6182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371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模型路由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6182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6182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371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工具调用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86182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6182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371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知识检索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6997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7988" y="3390900"/>
            <a:ext cx="281932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编排层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3691" y="3933825"/>
            <a:ext cx="38099" cy="3048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57988" y="393382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7988" y="399097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6" y="397192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57988" y="44577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7988" y="45148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176" y="44958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7988" y="4981575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7988" y="5038725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176" y="5019675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Chat 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2667000"/>
          </a:xfrm>
          <a:prstGeom prst="roundRect">
            <a:avLst>
              <a:gd name="adj" fmla="val 10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144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模型调用量月环比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8112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GPT-4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4441" y="136207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42 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1866900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Claude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8339" y="1781175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38339" y="1781175"/>
            <a:ext cx="2781230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3866" y="1847850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31 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235267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Gemini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8339" y="226695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38339" y="2266950"/>
            <a:ext cx="1609684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2320" y="233362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18 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096" y="533400"/>
            <a:ext cx="3543211" cy="2667000"/>
          </a:xfrm>
          <a:prstGeom prst="roundRect">
            <a:avLst>
              <a:gd name="adj" fmla="val 10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9525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运行指标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087" y="1266825"/>
            <a:ext cx="2781230" cy="542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PingFang SC"/>
              </a:rPr>
              <a:t>187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5216" y="1571625"/>
            <a:ext cx="371465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PingFang SC"/>
              </a:rPr>
              <a:t>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1910" y="1533525"/>
            <a:ext cx="1600159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API 平均响应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087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99 分位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087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420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6702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错误率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6702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0.03%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6087" y="2247900"/>
            <a:ext cx="278123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96087" y="2247900"/>
            <a:ext cx="2752656" cy="5715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087" y="238125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SLA 99% 达标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386" y="3390900"/>
            <a:ext cx="3543211" cy="2647950"/>
          </a:xfrm>
          <a:prstGeom prst="roundRect">
            <a:avLst>
              <a:gd name="adj" fmla="val 1007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377" y="37719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界面预览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377" y="4114800"/>
            <a:ext cx="2781230" cy="1466850"/>
          </a:xfrm>
          <a:prstGeom prst="roundRect">
            <a:avLst>
              <a:gd name="adj" fmla="val 5000"/>
            </a:avLst>
          </a:prstGeom>
          <a:solidFill>
            <a:srgbClr val="7C5CFF">
              <a:alpha val="10000"/>
            </a:srgbClr>
          </a:solidFill>
          <a:ln w="12700">
            <a:solidFill>
              <a:srgbClr val="7C5CFF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377" y="4733925"/>
            <a:ext cx="278123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BCC4D8"/>
                </a:solidFill>
                <a:latin typeface="PingFang SC"/>
              </a:rPr>
              <a:t>Workflow 编排画布概念图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5192" y="3390900"/>
            <a:ext cx="7353116" cy="2647950"/>
          </a:xfrm>
          <a:prstGeom prst="roundRect">
            <a:avLst>
              <a:gd name="adj" fmla="val 1007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86182" y="3848100"/>
            <a:ext cx="6591135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落地案例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182" y="4286250"/>
            <a:ext cx="6591135" cy="1295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某头部券商：用 Dify 把 17 个内部系统的接口能力封装成 Agent 工具，把客户经理日均处理工单数从 23 提升到 78。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某省级政务平台：基于 Dify 知识库构建公文助手，问答准确率从 62% 提升到 91%。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让我们一起，把 AI 装进每一个业务流程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336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联系 sales@dify.ai 安排技术演示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410200"/>
            <a:ext cx="1036294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Dify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